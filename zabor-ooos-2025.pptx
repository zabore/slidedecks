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300" r:id="rId3"/>
    <p:sldId id="313" r:id="rId4"/>
    <p:sldId id="323" r:id="rId5"/>
    <p:sldId id="316" r:id="rId6"/>
    <p:sldId id="306" r:id="rId7"/>
    <p:sldId id="310" r:id="rId8"/>
    <p:sldId id="318" r:id="rId9"/>
    <p:sldId id="307" r:id="rId10"/>
    <p:sldId id="319" r:id="rId11"/>
    <p:sldId id="317" r:id="rId12"/>
    <p:sldId id="324" r:id="rId13"/>
    <p:sldId id="29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BF"/>
    <a:srgbClr val="00843D"/>
    <a:srgbClr val="4B4B45"/>
    <a:srgbClr val="F08122"/>
    <a:srgbClr val="A61F56"/>
    <a:srgbClr val="F7C6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3" autoAdjust="0"/>
    <p:restoredTop sz="94660"/>
  </p:normalViewPr>
  <p:slideViewPr>
    <p:cSldViewPr snapToGrid="0">
      <p:cViewPr varScale="1">
        <p:scale>
          <a:sx n="97" d="100"/>
          <a:sy n="97" d="100"/>
        </p:scale>
        <p:origin x="72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286F45-1ED2-49EE-9494-A0237CC9F658}" type="doc">
      <dgm:prSet loTypeId="urn:microsoft.com/office/officeart/2005/8/layout/venn2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A247B4C-D03D-44E2-846E-05E0C226114C}">
      <dgm:prSet phldrT="[Text]" custT="1"/>
      <dgm:spPr/>
      <dgm:t>
        <a:bodyPr/>
        <a:lstStyle/>
        <a:p>
          <a:r>
            <a:rPr lang="en-US" sz="2000" b="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Artificial intelligence</a:t>
          </a:r>
        </a:p>
      </dgm:t>
    </dgm:pt>
    <dgm:pt modelId="{3AF45A2E-3E52-4E8F-BF9F-2C7B210033EF}" type="parTrans" cxnId="{898BE609-65D6-4511-ABC7-FA065B0F1F7D}">
      <dgm:prSet/>
      <dgm:spPr/>
      <dgm:t>
        <a:bodyPr/>
        <a:lstStyle/>
        <a:p>
          <a:endParaRPr lang="en-US"/>
        </a:p>
      </dgm:t>
    </dgm:pt>
    <dgm:pt modelId="{594B9048-718C-465E-8B13-48CA15A0D538}" type="sibTrans" cxnId="{898BE609-65D6-4511-ABC7-FA065B0F1F7D}">
      <dgm:prSet/>
      <dgm:spPr/>
      <dgm:t>
        <a:bodyPr/>
        <a:lstStyle/>
        <a:p>
          <a:endParaRPr lang="en-US"/>
        </a:p>
      </dgm:t>
    </dgm:pt>
    <dgm:pt modelId="{4C57DF58-DDD6-496A-88F4-69AA5885BB55}">
      <dgm:prSet phldrT="[Text]" custT="1"/>
      <dgm:spPr/>
      <dgm:t>
        <a:bodyPr/>
        <a:lstStyle/>
        <a:p>
          <a:r>
            <a:rPr lang="en-US" sz="2000" b="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Machine learning</a:t>
          </a:r>
        </a:p>
      </dgm:t>
    </dgm:pt>
    <dgm:pt modelId="{71DC41DA-134F-492D-AD85-BCBBAF6D8294}" type="parTrans" cxnId="{A1325330-55C5-4691-B8C3-CB53519723E9}">
      <dgm:prSet/>
      <dgm:spPr/>
      <dgm:t>
        <a:bodyPr/>
        <a:lstStyle/>
        <a:p>
          <a:endParaRPr lang="en-US"/>
        </a:p>
      </dgm:t>
    </dgm:pt>
    <dgm:pt modelId="{EF23AEF3-DD5C-46FF-BBB0-505E69BD62DA}" type="sibTrans" cxnId="{A1325330-55C5-4691-B8C3-CB53519723E9}">
      <dgm:prSet/>
      <dgm:spPr/>
      <dgm:t>
        <a:bodyPr/>
        <a:lstStyle/>
        <a:p>
          <a:endParaRPr lang="en-US"/>
        </a:p>
      </dgm:t>
    </dgm:pt>
    <dgm:pt modelId="{7DD5F323-D805-4E2B-A926-296B2C61DED8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Deep learning</a:t>
          </a:r>
        </a:p>
      </dgm:t>
    </dgm:pt>
    <dgm:pt modelId="{23ECEEA1-4FDB-4D14-9A2E-FFD3967CA3EF}" type="parTrans" cxnId="{047A7BF3-FBEB-41F5-A174-84001A4D94E0}">
      <dgm:prSet/>
      <dgm:spPr/>
      <dgm:t>
        <a:bodyPr/>
        <a:lstStyle/>
        <a:p>
          <a:endParaRPr lang="en-US"/>
        </a:p>
      </dgm:t>
    </dgm:pt>
    <dgm:pt modelId="{B318867C-D374-4ABD-91DD-B7CD8C45533F}" type="sibTrans" cxnId="{047A7BF3-FBEB-41F5-A174-84001A4D94E0}">
      <dgm:prSet/>
      <dgm:spPr/>
      <dgm:t>
        <a:bodyPr/>
        <a:lstStyle/>
        <a:p>
          <a:endParaRPr lang="en-US"/>
        </a:p>
      </dgm:t>
    </dgm:pt>
    <dgm:pt modelId="{DB4B8AA6-118E-4873-A4BC-52ECE2382ADE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Neural networks</a:t>
          </a:r>
        </a:p>
      </dgm:t>
    </dgm:pt>
    <dgm:pt modelId="{4EC38E46-61BA-4DDB-BD6F-5306BAF3197A}" type="parTrans" cxnId="{2CF41B41-17CD-45A9-9B6D-69E32C0C2A2D}">
      <dgm:prSet/>
      <dgm:spPr/>
      <dgm:t>
        <a:bodyPr/>
        <a:lstStyle/>
        <a:p>
          <a:endParaRPr lang="en-US"/>
        </a:p>
      </dgm:t>
    </dgm:pt>
    <dgm:pt modelId="{B3981A37-A997-430F-A5F3-4E2E528464FF}" type="sibTrans" cxnId="{2CF41B41-17CD-45A9-9B6D-69E32C0C2A2D}">
      <dgm:prSet/>
      <dgm:spPr/>
      <dgm:t>
        <a:bodyPr/>
        <a:lstStyle/>
        <a:p>
          <a:endParaRPr lang="en-US"/>
        </a:p>
      </dgm:t>
    </dgm:pt>
    <dgm:pt modelId="{77F3D884-8A36-4083-800C-6F9ECD3B4703}" type="pres">
      <dgm:prSet presAssocID="{A0286F45-1ED2-49EE-9494-A0237CC9F658}" presName="Name0" presStyleCnt="0">
        <dgm:presLayoutVars>
          <dgm:chMax val="7"/>
          <dgm:resizeHandles val="exact"/>
        </dgm:presLayoutVars>
      </dgm:prSet>
      <dgm:spPr/>
    </dgm:pt>
    <dgm:pt modelId="{495654DA-C7AE-435A-B3D2-945A378E3A40}" type="pres">
      <dgm:prSet presAssocID="{A0286F45-1ED2-49EE-9494-A0237CC9F658}" presName="comp1" presStyleCnt="0"/>
      <dgm:spPr/>
    </dgm:pt>
    <dgm:pt modelId="{8371C086-9DE0-4C72-A4AC-05E4C6643B5D}" type="pres">
      <dgm:prSet presAssocID="{A0286F45-1ED2-49EE-9494-A0237CC9F658}" presName="circle1" presStyleLbl="node1" presStyleIdx="0" presStyleCnt="4"/>
      <dgm:spPr/>
    </dgm:pt>
    <dgm:pt modelId="{1EB0A095-D914-4ACD-85ED-B328109D71F9}" type="pres">
      <dgm:prSet presAssocID="{A0286F45-1ED2-49EE-9494-A0237CC9F658}" presName="c1text" presStyleLbl="node1" presStyleIdx="0" presStyleCnt="4">
        <dgm:presLayoutVars>
          <dgm:bulletEnabled val="1"/>
        </dgm:presLayoutVars>
      </dgm:prSet>
      <dgm:spPr/>
    </dgm:pt>
    <dgm:pt modelId="{002143DB-8DEF-47FF-BB27-23CF9B893FF3}" type="pres">
      <dgm:prSet presAssocID="{A0286F45-1ED2-49EE-9494-A0237CC9F658}" presName="comp2" presStyleCnt="0"/>
      <dgm:spPr/>
    </dgm:pt>
    <dgm:pt modelId="{FD6F44DC-41F1-4370-9AE0-95B994644811}" type="pres">
      <dgm:prSet presAssocID="{A0286F45-1ED2-49EE-9494-A0237CC9F658}" presName="circle2" presStyleLbl="node1" presStyleIdx="1" presStyleCnt="4"/>
      <dgm:spPr/>
    </dgm:pt>
    <dgm:pt modelId="{CAC11F40-8A47-482C-9B76-AAD103798A41}" type="pres">
      <dgm:prSet presAssocID="{A0286F45-1ED2-49EE-9494-A0237CC9F658}" presName="c2text" presStyleLbl="node1" presStyleIdx="1" presStyleCnt="4">
        <dgm:presLayoutVars>
          <dgm:bulletEnabled val="1"/>
        </dgm:presLayoutVars>
      </dgm:prSet>
      <dgm:spPr/>
    </dgm:pt>
    <dgm:pt modelId="{BA06951F-C8C5-4196-A4D5-80042ACE7004}" type="pres">
      <dgm:prSet presAssocID="{A0286F45-1ED2-49EE-9494-A0237CC9F658}" presName="comp3" presStyleCnt="0"/>
      <dgm:spPr/>
    </dgm:pt>
    <dgm:pt modelId="{C7FBB326-BEA3-4BFE-8EDD-D1D21DCF7924}" type="pres">
      <dgm:prSet presAssocID="{A0286F45-1ED2-49EE-9494-A0237CC9F658}" presName="circle3" presStyleLbl="node1" presStyleIdx="2" presStyleCnt="4"/>
      <dgm:spPr/>
    </dgm:pt>
    <dgm:pt modelId="{95FE31B6-41BD-46E4-84C8-8A504D22AF83}" type="pres">
      <dgm:prSet presAssocID="{A0286F45-1ED2-49EE-9494-A0237CC9F658}" presName="c3text" presStyleLbl="node1" presStyleIdx="2" presStyleCnt="4">
        <dgm:presLayoutVars>
          <dgm:bulletEnabled val="1"/>
        </dgm:presLayoutVars>
      </dgm:prSet>
      <dgm:spPr/>
    </dgm:pt>
    <dgm:pt modelId="{C0FAD16B-B647-49F3-ADB9-4AE805A6E7BC}" type="pres">
      <dgm:prSet presAssocID="{A0286F45-1ED2-49EE-9494-A0237CC9F658}" presName="comp4" presStyleCnt="0"/>
      <dgm:spPr/>
    </dgm:pt>
    <dgm:pt modelId="{F07ED6FF-406D-4CFF-B5F6-1307F0D69774}" type="pres">
      <dgm:prSet presAssocID="{A0286F45-1ED2-49EE-9494-A0237CC9F658}" presName="circle4" presStyleLbl="node1" presStyleIdx="3" presStyleCnt="4"/>
      <dgm:spPr/>
    </dgm:pt>
    <dgm:pt modelId="{84871DC9-32EF-4DDF-92EB-53C459D320A7}" type="pres">
      <dgm:prSet presAssocID="{A0286F45-1ED2-49EE-9494-A0237CC9F658}" presName="c4text" presStyleLbl="node1" presStyleIdx="3" presStyleCnt="4">
        <dgm:presLayoutVars>
          <dgm:bulletEnabled val="1"/>
        </dgm:presLayoutVars>
      </dgm:prSet>
      <dgm:spPr/>
    </dgm:pt>
  </dgm:ptLst>
  <dgm:cxnLst>
    <dgm:cxn modelId="{898BE609-65D6-4511-ABC7-FA065B0F1F7D}" srcId="{A0286F45-1ED2-49EE-9494-A0237CC9F658}" destId="{8A247B4C-D03D-44E2-846E-05E0C226114C}" srcOrd="0" destOrd="0" parTransId="{3AF45A2E-3E52-4E8F-BF9F-2C7B210033EF}" sibTransId="{594B9048-718C-465E-8B13-48CA15A0D538}"/>
    <dgm:cxn modelId="{0D761E0D-5CB3-44FE-88E8-A4B1BA063DF2}" type="presOf" srcId="{4C57DF58-DDD6-496A-88F4-69AA5885BB55}" destId="{CAC11F40-8A47-482C-9B76-AAD103798A41}" srcOrd="1" destOrd="0" presId="urn:microsoft.com/office/officeart/2005/8/layout/venn2"/>
    <dgm:cxn modelId="{A1325330-55C5-4691-B8C3-CB53519723E9}" srcId="{A0286F45-1ED2-49EE-9494-A0237CC9F658}" destId="{4C57DF58-DDD6-496A-88F4-69AA5885BB55}" srcOrd="1" destOrd="0" parTransId="{71DC41DA-134F-492D-AD85-BCBBAF6D8294}" sibTransId="{EF23AEF3-DD5C-46FF-BBB0-505E69BD62DA}"/>
    <dgm:cxn modelId="{67CFB735-FDD1-4C94-B067-D516D7A5AC31}" type="presOf" srcId="{DB4B8AA6-118E-4873-A4BC-52ECE2382ADE}" destId="{F07ED6FF-406D-4CFF-B5F6-1307F0D69774}" srcOrd="0" destOrd="0" presId="urn:microsoft.com/office/officeart/2005/8/layout/venn2"/>
    <dgm:cxn modelId="{40D24836-D0A8-4D1E-9044-E614B6EB285D}" type="presOf" srcId="{4C57DF58-DDD6-496A-88F4-69AA5885BB55}" destId="{FD6F44DC-41F1-4370-9AE0-95B994644811}" srcOrd="0" destOrd="0" presId="urn:microsoft.com/office/officeart/2005/8/layout/venn2"/>
    <dgm:cxn modelId="{C1CE5A3D-A379-4CF6-8DC5-87C8ACB6C519}" type="presOf" srcId="{7DD5F323-D805-4E2B-A926-296B2C61DED8}" destId="{95FE31B6-41BD-46E4-84C8-8A504D22AF83}" srcOrd="1" destOrd="0" presId="urn:microsoft.com/office/officeart/2005/8/layout/venn2"/>
    <dgm:cxn modelId="{2CF41B41-17CD-45A9-9B6D-69E32C0C2A2D}" srcId="{A0286F45-1ED2-49EE-9494-A0237CC9F658}" destId="{DB4B8AA6-118E-4873-A4BC-52ECE2382ADE}" srcOrd="3" destOrd="0" parTransId="{4EC38E46-61BA-4DDB-BD6F-5306BAF3197A}" sibTransId="{B3981A37-A997-430F-A5F3-4E2E528464FF}"/>
    <dgm:cxn modelId="{6830D36F-DD31-48D4-B472-D70234A47C5F}" type="presOf" srcId="{7DD5F323-D805-4E2B-A926-296B2C61DED8}" destId="{C7FBB326-BEA3-4BFE-8EDD-D1D21DCF7924}" srcOrd="0" destOrd="0" presId="urn:microsoft.com/office/officeart/2005/8/layout/venn2"/>
    <dgm:cxn modelId="{BABA7797-86C9-413A-AA78-F97225778F99}" type="presOf" srcId="{8A247B4C-D03D-44E2-846E-05E0C226114C}" destId="{1EB0A095-D914-4ACD-85ED-B328109D71F9}" srcOrd="1" destOrd="0" presId="urn:microsoft.com/office/officeart/2005/8/layout/venn2"/>
    <dgm:cxn modelId="{0C857098-3B62-49DE-A93F-0DE7CD5DFCBB}" type="presOf" srcId="{A0286F45-1ED2-49EE-9494-A0237CC9F658}" destId="{77F3D884-8A36-4083-800C-6F9ECD3B4703}" srcOrd="0" destOrd="0" presId="urn:microsoft.com/office/officeart/2005/8/layout/venn2"/>
    <dgm:cxn modelId="{DFADD7C2-6375-493C-BE04-46726540BF9E}" type="presOf" srcId="{DB4B8AA6-118E-4873-A4BC-52ECE2382ADE}" destId="{84871DC9-32EF-4DDF-92EB-53C459D320A7}" srcOrd="1" destOrd="0" presId="urn:microsoft.com/office/officeart/2005/8/layout/venn2"/>
    <dgm:cxn modelId="{047A7BF3-FBEB-41F5-A174-84001A4D94E0}" srcId="{A0286F45-1ED2-49EE-9494-A0237CC9F658}" destId="{7DD5F323-D805-4E2B-A926-296B2C61DED8}" srcOrd="2" destOrd="0" parTransId="{23ECEEA1-4FDB-4D14-9A2E-FFD3967CA3EF}" sibTransId="{B318867C-D374-4ABD-91DD-B7CD8C45533F}"/>
    <dgm:cxn modelId="{0BF4FEFF-831B-4E38-845F-E3E7D0AB3A88}" type="presOf" srcId="{8A247B4C-D03D-44E2-846E-05E0C226114C}" destId="{8371C086-9DE0-4C72-A4AC-05E4C6643B5D}" srcOrd="0" destOrd="0" presId="urn:microsoft.com/office/officeart/2005/8/layout/venn2"/>
    <dgm:cxn modelId="{1DF211F8-5F6B-45E9-9CCD-2E4B121DDABF}" type="presParOf" srcId="{77F3D884-8A36-4083-800C-6F9ECD3B4703}" destId="{495654DA-C7AE-435A-B3D2-945A378E3A40}" srcOrd="0" destOrd="0" presId="urn:microsoft.com/office/officeart/2005/8/layout/venn2"/>
    <dgm:cxn modelId="{0461382D-75F8-450B-9938-A41321DF2E05}" type="presParOf" srcId="{495654DA-C7AE-435A-B3D2-945A378E3A40}" destId="{8371C086-9DE0-4C72-A4AC-05E4C6643B5D}" srcOrd="0" destOrd="0" presId="urn:microsoft.com/office/officeart/2005/8/layout/venn2"/>
    <dgm:cxn modelId="{1547999F-FF1F-4BE8-8291-D6D055D7D0A7}" type="presParOf" srcId="{495654DA-C7AE-435A-B3D2-945A378E3A40}" destId="{1EB0A095-D914-4ACD-85ED-B328109D71F9}" srcOrd="1" destOrd="0" presId="urn:microsoft.com/office/officeart/2005/8/layout/venn2"/>
    <dgm:cxn modelId="{73ED4B3F-AC29-460F-95F1-BBCD6300FB59}" type="presParOf" srcId="{77F3D884-8A36-4083-800C-6F9ECD3B4703}" destId="{002143DB-8DEF-47FF-BB27-23CF9B893FF3}" srcOrd="1" destOrd="0" presId="urn:microsoft.com/office/officeart/2005/8/layout/venn2"/>
    <dgm:cxn modelId="{F216FBCF-A538-4957-9EB4-60097E206F97}" type="presParOf" srcId="{002143DB-8DEF-47FF-BB27-23CF9B893FF3}" destId="{FD6F44DC-41F1-4370-9AE0-95B994644811}" srcOrd="0" destOrd="0" presId="urn:microsoft.com/office/officeart/2005/8/layout/venn2"/>
    <dgm:cxn modelId="{CDC698B6-316F-4169-85A7-F74CC1C241A6}" type="presParOf" srcId="{002143DB-8DEF-47FF-BB27-23CF9B893FF3}" destId="{CAC11F40-8A47-482C-9B76-AAD103798A41}" srcOrd="1" destOrd="0" presId="urn:microsoft.com/office/officeart/2005/8/layout/venn2"/>
    <dgm:cxn modelId="{C768760E-80B4-4CD1-8B7D-BE2888F6D2CC}" type="presParOf" srcId="{77F3D884-8A36-4083-800C-6F9ECD3B4703}" destId="{BA06951F-C8C5-4196-A4D5-80042ACE7004}" srcOrd="2" destOrd="0" presId="urn:microsoft.com/office/officeart/2005/8/layout/venn2"/>
    <dgm:cxn modelId="{19F89A59-70E1-49D5-84F1-90EF31484F4A}" type="presParOf" srcId="{BA06951F-C8C5-4196-A4D5-80042ACE7004}" destId="{C7FBB326-BEA3-4BFE-8EDD-D1D21DCF7924}" srcOrd="0" destOrd="0" presId="urn:microsoft.com/office/officeart/2005/8/layout/venn2"/>
    <dgm:cxn modelId="{48A6AC80-B25D-410C-92E9-F5802732ECE6}" type="presParOf" srcId="{BA06951F-C8C5-4196-A4D5-80042ACE7004}" destId="{95FE31B6-41BD-46E4-84C8-8A504D22AF83}" srcOrd="1" destOrd="0" presId="urn:microsoft.com/office/officeart/2005/8/layout/venn2"/>
    <dgm:cxn modelId="{53D917A9-5871-48E0-8F0D-5F17325C302F}" type="presParOf" srcId="{77F3D884-8A36-4083-800C-6F9ECD3B4703}" destId="{C0FAD16B-B647-49F3-ADB9-4AE805A6E7BC}" srcOrd="3" destOrd="0" presId="urn:microsoft.com/office/officeart/2005/8/layout/venn2"/>
    <dgm:cxn modelId="{7602A777-6497-4434-8E25-2621524C4015}" type="presParOf" srcId="{C0FAD16B-B647-49F3-ADB9-4AE805A6E7BC}" destId="{F07ED6FF-406D-4CFF-B5F6-1307F0D69774}" srcOrd="0" destOrd="0" presId="urn:microsoft.com/office/officeart/2005/8/layout/venn2"/>
    <dgm:cxn modelId="{688ABB1B-8B63-45BA-A8BA-102550EC6EA8}" type="presParOf" srcId="{C0FAD16B-B647-49F3-ADB9-4AE805A6E7BC}" destId="{84871DC9-32EF-4DDF-92EB-53C459D320A7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1C086-9DE0-4C72-A4AC-05E4C6643B5D}">
      <dsp:nvSpPr>
        <dsp:cNvPr id="0" name=""/>
        <dsp:cNvSpPr/>
      </dsp:nvSpPr>
      <dsp:spPr>
        <a:xfrm>
          <a:off x="1611516" y="0"/>
          <a:ext cx="6111088" cy="611108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Artificial intelligence</a:t>
          </a:r>
        </a:p>
      </dsp:txBody>
      <dsp:txXfrm>
        <a:off x="3812730" y="305554"/>
        <a:ext cx="1708660" cy="916663"/>
      </dsp:txXfrm>
    </dsp:sp>
    <dsp:sp modelId="{FD6F44DC-41F1-4370-9AE0-95B994644811}">
      <dsp:nvSpPr>
        <dsp:cNvPr id="0" name=""/>
        <dsp:cNvSpPr/>
      </dsp:nvSpPr>
      <dsp:spPr>
        <a:xfrm>
          <a:off x="2222625" y="1222217"/>
          <a:ext cx="4888870" cy="488887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Machine learning</a:t>
          </a:r>
        </a:p>
      </dsp:txBody>
      <dsp:txXfrm>
        <a:off x="3812730" y="1515549"/>
        <a:ext cx="1708660" cy="879996"/>
      </dsp:txXfrm>
    </dsp:sp>
    <dsp:sp modelId="{C7FBB326-BEA3-4BFE-8EDD-D1D21DCF7924}">
      <dsp:nvSpPr>
        <dsp:cNvPr id="0" name=""/>
        <dsp:cNvSpPr/>
      </dsp:nvSpPr>
      <dsp:spPr>
        <a:xfrm>
          <a:off x="2833734" y="2444435"/>
          <a:ext cx="3666652" cy="366665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Deep learning</a:t>
          </a:r>
        </a:p>
      </dsp:txBody>
      <dsp:txXfrm>
        <a:off x="3812730" y="2719434"/>
        <a:ext cx="1708660" cy="824996"/>
      </dsp:txXfrm>
    </dsp:sp>
    <dsp:sp modelId="{F07ED6FF-406D-4CFF-B5F6-1307F0D69774}">
      <dsp:nvSpPr>
        <dsp:cNvPr id="0" name=""/>
        <dsp:cNvSpPr/>
      </dsp:nvSpPr>
      <dsp:spPr>
        <a:xfrm>
          <a:off x="3444843" y="3666652"/>
          <a:ext cx="2444435" cy="244443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Neural networks</a:t>
          </a:r>
        </a:p>
      </dsp:txBody>
      <dsp:txXfrm>
        <a:off x="3802822" y="4277761"/>
        <a:ext cx="1728476" cy="12222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2F6C9-6433-4EB6-AA0C-D990AF9BDB26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D0B9F-933A-4A4F-82F6-43472631A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04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D0B9F-933A-4A4F-82F6-43472631A3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5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F6D8D-6FC2-AA39-185C-D2C1F6385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4830D-A717-55E8-3E11-D1DB29BF3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0F463-1F96-F1C5-70C1-F3D91C961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6C160-750F-A8D4-4068-26BFA4C88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D0B9F-933A-4A4F-82F6-43472631A3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22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632A5-DA00-367D-D0AD-FA8F9D03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9E74C-6328-0C80-A5FA-C541C54E9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79A32-0306-4FF6-E64B-F68C31589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D0772-8812-81D0-5396-68BFD8CBA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D0B9F-933A-4A4F-82F6-43472631A3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8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A58B-D94F-42B7-9269-A3B5098B69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4CD4220-A0E2-07E9-8671-AAA006EA63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004" y="6354896"/>
            <a:ext cx="2347796" cy="36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A58B-D94F-42B7-9269-A3B5098B69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AC75-ACFD-4F68-A1EE-E18D2B57CF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51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A58B-D94F-42B7-9269-A3B5098B69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AC75-ACFD-4F68-A1EE-E18D2B57CF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64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A58B-D94F-42B7-9269-A3B5098B69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AC75-ACFD-4F68-A1EE-E18D2B57CF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56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A58B-D94F-42B7-9269-A3B5098B69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AC75-ACFD-4F68-A1EE-E18D2B57CF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37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A58B-D94F-42B7-9269-A3B5098B69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AC75-ACFD-4F68-A1EE-E18D2B57CF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62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A58B-D94F-42B7-9269-A3B5098B69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AC75-ACFD-4F68-A1EE-E18D2B57CF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29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A58B-D94F-42B7-9269-A3B5098B69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AC75-ACFD-4F68-A1EE-E18D2B57CF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5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A58B-D94F-42B7-9269-A3B5098B69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AC75-ACFD-4F68-A1EE-E18D2B57CF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535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A58B-D94F-42B7-9269-A3B5098B69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AC75-ACFD-4F68-A1EE-E18D2B57CF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2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A58B-D94F-42B7-9269-A3B5098B69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AC75-ACFD-4F68-A1EE-E18D2B57CF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531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BA58B-D94F-42B7-9269-A3B5098B69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8AC75-ACFD-4F68-A1EE-E18D2B57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9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quares with white squares&#10;&#10;Description automatically generated with medium confidence">
            <a:extLst>
              <a:ext uri="{FF2B5EF4-FFF2-40B4-BE49-F238E27FC236}">
                <a16:creationId xmlns:a16="http://schemas.microsoft.com/office/drawing/2014/main" id="{D0BFD206-F2AC-E4D5-8DE5-AFB725265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262" y="0"/>
            <a:ext cx="744022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C91F00-4A78-90CC-1F2F-C68153CE8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116" y="1540007"/>
            <a:ext cx="9144000" cy="77154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0084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and AI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8EA7F-2473-B6A2-92DB-957E4CA32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16" y="3022115"/>
            <a:ext cx="9144000" cy="262222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rgbClr val="4B4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Emily C. Zabor</a:t>
            </a:r>
          </a:p>
          <a:p>
            <a:pPr algn="l"/>
            <a:r>
              <a:rPr lang="en-US" dirty="0">
                <a:solidFill>
                  <a:srgbClr val="4B4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Quantitative Health Sciences</a:t>
            </a:r>
          </a:p>
          <a:p>
            <a:pPr algn="l"/>
            <a:endParaRPr lang="en-US" dirty="0">
              <a:solidFill>
                <a:srgbClr val="4B4B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solidFill>
                  <a:srgbClr val="4B4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Ohio Ocular Oncology Symposium</a:t>
            </a:r>
          </a:p>
          <a:p>
            <a:pPr algn="l"/>
            <a:r>
              <a:rPr lang="en-US" dirty="0">
                <a:solidFill>
                  <a:srgbClr val="4B4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June 7, 2025</a:t>
            </a:r>
          </a:p>
        </p:txBody>
      </p:sp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67BC45F-75E6-5DDF-F526-63EF84AE4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572" y="6354896"/>
            <a:ext cx="2347796" cy="36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35944FB-59F8-17BB-6AB2-DEBFE24D89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9715623"/>
              </p:ext>
            </p:extLst>
          </p:nvPr>
        </p:nvGraphicFramePr>
        <p:xfrm>
          <a:off x="-879695" y="373456"/>
          <a:ext cx="9334122" cy="6111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E5DA5F4-F1E6-5C1D-8FB3-D93579864900}"/>
              </a:ext>
            </a:extLst>
          </p:cNvPr>
          <p:cNvSpPr txBox="1"/>
          <p:nvPr/>
        </p:nvSpPr>
        <p:spPr>
          <a:xfrm>
            <a:off x="7632069" y="373456"/>
            <a:ext cx="44180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Machines that mimic human intelligence and human cognitive functions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08D63-0827-C20A-3654-89D7E3A6C315}"/>
              </a:ext>
            </a:extLst>
          </p:cNvPr>
          <p:cNvSpPr txBox="1"/>
          <p:nvPr/>
        </p:nvSpPr>
        <p:spPr>
          <a:xfrm>
            <a:off x="7632068" y="1716562"/>
            <a:ext cx="44180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algorithms to detect patterns in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F23DC2-080F-2749-DEF6-2D04CDA0C0F6}"/>
              </a:ext>
            </a:extLst>
          </p:cNvPr>
          <p:cNvSpPr txBox="1"/>
          <p:nvPr/>
        </p:nvSpPr>
        <p:spPr>
          <a:xfrm>
            <a:off x="7632068" y="2782669"/>
            <a:ext cx="44180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unstructured and automated form of machine learning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C039DA-1A43-41CB-2E28-008917708289}"/>
              </a:ext>
            </a:extLst>
          </p:cNvPr>
          <p:cNvSpPr txBox="1"/>
          <p:nvPr/>
        </p:nvSpPr>
        <p:spPr>
          <a:xfrm>
            <a:off x="7632067" y="4125776"/>
            <a:ext cx="44180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Imitates the function of the human brain to detect relationships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1622B21-AC7A-E2BD-AE2B-FAF92B37C25D}"/>
              </a:ext>
            </a:extLst>
          </p:cNvPr>
          <p:cNvCxnSpPr>
            <a:cxnSpLocks/>
          </p:cNvCxnSpPr>
          <p:nvPr/>
        </p:nvCxnSpPr>
        <p:spPr>
          <a:xfrm flipV="1">
            <a:off x="5567881" y="570368"/>
            <a:ext cx="2064186" cy="395842"/>
          </a:xfrm>
          <a:prstGeom prst="bentConnector3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34FC669-5E28-A11F-02C2-6EDE87E16227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567881" y="2070505"/>
            <a:ext cx="2064187" cy="271444"/>
          </a:xfrm>
          <a:prstGeom prst="bentConnector3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6A7C6A3-D7FB-4C08-00A5-63FF0ACE2473}"/>
              </a:ext>
            </a:extLst>
          </p:cNvPr>
          <p:cNvCxnSpPr>
            <a:cxnSpLocks/>
          </p:cNvCxnSpPr>
          <p:nvPr/>
        </p:nvCxnSpPr>
        <p:spPr>
          <a:xfrm flipV="1">
            <a:off x="5196689" y="2966686"/>
            <a:ext cx="2435378" cy="553081"/>
          </a:xfrm>
          <a:prstGeom prst="bentConnector3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823E5F0-E0D4-3A23-9457-FB3C6B5FFDCF}"/>
              </a:ext>
            </a:extLst>
          </p:cNvPr>
          <p:cNvCxnSpPr/>
          <p:nvPr/>
        </p:nvCxnSpPr>
        <p:spPr>
          <a:xfrm flipV="1">
            <a:off x="4916032" y="4309450"/>
            <a:ext cx="2716035" cy="462657"/>
          </a:xfrm>
          <a:prstGeom prst="bentConnector3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850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0A2BB-8EF7-C875-868A-3F7D74FE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8367-A5DB-119A-F15D-2EE1CE17C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843D"/>
                </a:solidFill>
              </a:rPr>
              <a:t>Generative vs predictive AI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FB92A1F-8460-2FD4-7A30-70FF31135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/>
          <a:p>
            <a:r>
              <a:rPr lang="en-US" dirty="0"/>
              <a:t>Generative AI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EC7C600-89F2-CBB4-50C7-ECF27CD34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n-US" dirty="0"/>
              <a:t>Create something new:</a:t>
            </a:r>
          </a:p>
          <a:p>
            <a:pPr lvl="1"/>
            <a:r>
              <a:rPr lang="en-US" dirty="0"/>
              <a:t>Text</a:t>
            </a:r>
          </a:p>
          <a:p>
            <a:pPr lvl="1"/>
            <a:r>
              <a:rPr lang="en-US" dirty="0"/>
              <a:t>Image</a:t>
            </a:r>
          </a:p>
          <a:p>
            <a:pPr lvl="1"/>
            <a:r>
              <a:rPr lang="en-US" dirty="0"/>
              <a:t>Video</a:t>
            </a:r>
          </a:p>
          <a:p>
            <a:pPr lvl="1"/>
            <a:r>
              <a:rPr lang="en-US" dirty="0"/>
              <a:t>Voice</a:t>
            </a:r>
          </a:p>
          <a:p>
            <a:r>
              <a:rPr lang="en-US" dirty="0"/>
              <a:t>Unsupervised learning</a:t>
            </a:r>
          </a:p>
          <a:p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B23049E-8C3A-E2D7-4099-255D91851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/>
          <a:p>
            <a:r>
              <a:rPr lang="en-US" dirty="0"/>
              <a:t>Predictive AI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B631DB10-4463-90D4-BE2C-0D968E65E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n-US" dirty="0"/>
              <a:t>Predict something based on historical data:</a:t>
            </a:r>
          </a:p>
          <a:p>
            <a:pPr lvl="1"/>
            <a:r>
              <a:rPr lang="en-US" dirty="0"/>
              <a:t>Diagnosis</a:t>
            </a:r>
          </a:p>
          <a:p>
            <a:pPr lvl="1"/>
            <a:r>
              <a:rPr lang="en-US" dirty="0"/>
              <a:t>Prognosis</a:t>
            </a:r>
          </a:p>
          <a:p>
            <a:r>
              <a:rPr lang="en-US" dirty="0"/>
              <a:t>Supervised or unsupervised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627ABB-18F3-481C-81CD-34AF4A31121F}"/>
              </a:ext>
            </a:extLst>
          </p:cNvPr>
          <p:cNvSpPr/>
          <p:nvPr/>
        </p:nvSpPr>
        <p:spPr>
          <a:xfrm>
            <a:off x="393188" y="1927123"/>
            <a:ext cx="5183188" cy="3362632"/>
          </a:xfrm>
          <a:prstGeom prst="roundRect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97D211-20C9-37A3-FEE9-B1489C5C867A}"/>
              </a:ext>
            </a:extLst>
          </p:cNvPr>
          <p:cNvSpPr/>
          <p:nvPr/>
        </p:nvSpPr>
        <p:spPr>
          <a:xfrm>
            <a:off x="5977911" y="1877962"/>
            <a:ext cx="5183188" cy="3362632"/>
          </a:xfrm>
          <a:prstGeom prst="roundRect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8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different types of learning&#10;&#10;AI-generated content may be incorrect.">
            <a:extLst>
              <a:ext uri="{FF2B5EF4-FFF2-40B4-BE49-F238E27FC236}">
                <a16:creationId xmlns:a16="http://schemas.microsoft.com/office/drawing/2014/main" id="{1E541B40-EA67-6C5A-57FB-C171176A02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8144" y="68263"/>
            <a:ext cx="9315711" cy="6218237"/>
          </a:xfrm>
          <a:noFill/>
        </p:spPr>
      </p:pic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F85FCB07-21BF-206D-B4BD-1AA5F7D5A67D}"/>
              </a:ext>
            </a:extLst>
          </p:cNvPr>
          <p:cNvCxnSpPr>
            <a:cxnSpLocks/>
          </p:cNvCxnSpPr>
          <p:nvPr/>
        </p:nvCxnSpPr>
        <p:spPr>
          <a:xfrm rot="10800000">
            <a:off x="1602658" y="5840362"/>
            <a:ext cx="806246" cy="669209"/>
          </a:xfrm>
          <a:prstGeom prst="curvedConnector3">
            <a:avLst>
              <a:gd name="adj1" fmla="val 12317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CC6AE5D-5C00-18F4-9DF0-617795979639}"/>
              </a:ext>
            </a:extLst>
          </p:cNvPr>
          <p:cNvSpPr txBox="1"/>
          <p:nvPr/>
        </p:nvSpPr>
        <p:spPr>
          <a:xfrm>
            <a:off x="2408904" y="6286500"/>
            <a:ext cx="5781368" cy="408623"/>
          </a:xfrm>
          <a:prstGeom prst="roundRect">
            <a:avLst/>
          </a:prstGeom>
          <a:solidFill>
            <a:srgbClr val="0078BF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Example of use of generative AI, image created by ChatGPT</a:t>
            </a:r>
          </a:p>
        </p:txBody>
      </p:sp>
    </p:spTree>
    <p:extLst>
      <p:ext uri="{BB962C8B-B14F-4D97-AF65-F5344CB8AC3E}">
        <p14:creationId xmlns:p14="http://schemas.microsoft.com/office/powerpoint/2010/main" val="1279297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3F9C9-D846-7350-7AF9-B10961FC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301D-13CE-4CC6-76B3-B8B51B4AE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84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predictive machine learning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88BC0-EDB5-BF1F-18E1-DE72B004A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7793"/>
            <a:ext cx="10515600" cy="42891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Linear regression 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Decision trees</a:t>
            </a:r>
          </a:p>
          <a:p>
            <a:r>
              <a:rPr lang="en-US" dirty="0"/>
              <a:t>Random forests</a:t>
            </a:r>
          </a:p>
          <a:p>
            <a:r>
              <a:rPr lang="en-US" dirty="0"/>
              <a:t>Convoluted neural networks</a:t>
            </a:r>
          </a:p>
          <a:p>
            <a:r>
              <a:rPr lang="en-US" dirty="0"/>
              <a:t>Support Vector Machines</a:t>
            </a:r>
          </a:p>
          <a:p>
            <a:r>
              <a:rPr lang="en-US" dirty="0"/>
              <a:t>Gradient Boosting </a:t>
            </a:r>
          </a:p>
          <a:p>
            <a:r>
              <a:rPr lang="en-US" dirty="0"/>
              <a:t>K-means clustering </a:t>
            </a:r>
          </a:p>
          <a:p>
            <a:r>
              <a:rPr lang="en-US" dirty="0"/>
              <a:t>Hierarchical clustering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1ED2F888-B3DE-39D7-DF7F-6C8AB1DE2270}"/>
              </a:ext>
            </a:extLst>
          </p:cNvPr>
          <p:cNvSpPr/>
          <p:nvPr/>
        </p:nvSpPr>
        <p:spPr>
          <a:xfrm>
            <a:off x="5474824" y="1887793"/>
            <a:ext cx="621175" cy="3124045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8537DFB-C427-6D6A-F77A-81AD7A3EA549}"/>
              </a:ext>
            </a:extLst>
          </p:cNvPr>
          <p:cNvSpPr/>
          <p:nvPr/>
        </p:nvSpPr>
        <p:spPr>
          <a:xfrm>
            <a:off x="5474824" y="5108263"/>
            <a:ext cx="621175" cy="97227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6A070-296D-D694-FFC7-FF628580DABC}"/>
              </a:ext>
            </a:extLst>
          </p:cNvPr>
          <p:cNvSpPr txBox="1"/>
          <p:nvPr/>
        </p:nvSpPr>
        <p:spPr>
          <a:xfrm>
            <a:off x="6095999" y="3218982"/>
            <a:ext cx="3808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8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E5E95-A6F5-FFEF-3539-29DDB05FB393}"/>
              </a:ext>
            </a:extLst>
          </p:cNvPr>
          <p:cNvSpPr txBox="1"/>
          <p:nvPr/>
        </p:nvSpPr>
        <p:spPr>
          <a:xfrm>
            <a:off x="6095999" y="5363566"/>
            <a:ext cx="3808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8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Unsupervised</a:t>
            </a:r>
          </a:p>
        </p:txBody>
      </p:sp>
    </p:spTree>
    <p:extLst>
      <p:ext uri="{BB962C8B-B14F-4D97-AF65-F5344CB8AC3E}">
        <p14:creationId xmlns:p14="http://schemas.microsoft.com/office/powerpoint/2010/main" val="239477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69CD59A-E7C7-6E6C-5FF4-A62D28F0DE88}"/>
              </a:ext>
            </a:extLst>
          </p:cNvPr>
          <p:cNvSpPr txBox="1"/>
          <p:nvPr/>
        </p:nvSpPr>
        <p:spPr>
          <a:xfrm>
            <a:off x="0" y="1825625"/>
            <a:ext cx="10668000" cy="76944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sz="4400" dirty="0">
              <a:solidFill>
                <a:srgbClr val="0084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EB1FC-BBCE-ECB5-165E-797D67E15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0084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 to AI and ML over time</a:t>
            </a:r>
            <a:endParaRPr lang="en-US" dirty="0"/>
          </a:p>
        </p:txBody>
      </p:sp>
      <p:pic>
        <p:nvPicPr>
          <p:cNvPr id="6" name="Content Placeholder 5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E81401CC-F24A-2F4C-E22C-FFE655EAFE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63" y="1298008"/>
            <a:ext cx="7632699" cy="545192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20D90-B5CA-4A36-9CEA-EE5D52B05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15762" y="1512888"/>
            <a:ext cx="3757137" cy="4351338"/>
          </a:xfrm>
        </p:spPr>
        <p:txBody>
          <a:bodyPr/>
          <a:lstStyle/>
          <a:p>
            <a:r>
              <a:rPr lang="en-US" dirty="0"/>
              <a:t>A (rough) literature review in 3 journals:</a:t>
            </a:r>
          </a:p>
          <a:p>
            <a:pPr lvl="1"/>
            <a:r>
              <a:rPr lang="en-US" dirty="0"/>
              <a:t>Am J Ophthalmology</a:t>
            </a:r>
          </a:p>
          <a:p>
            <a:pPr lvl="1"/>
            <a:r>
              <a:rPr lang="en-US" dirty="0"/>
              <a:t>Br J Ophthalmology</a:t>
            </a:r>
          </a:p>
          <a:p>
            <a:pPr lvl="1"/>
            <a:r>
              <a:rPr lang="en-US" dirty="0"/>
              <a:t>Ophthalmology</a:t>
            </a:r>
          </a:p>
          <a:p>
            <a:r>
              <a:rPr lang="en-US" dirty="0"/>
              <a:t>Search terms:</a:t>
            </a:r>
          </a:p>
          <a:p>
            <a:pPr lvl="1"/>
            <a:r>
              <a:rPr lang="en-US" dirty="0"/>
              <a:t>Artificial intelligence</a:t>
            </a:r>
          </a:p>
          <a:p>
            <a:pPr lvl="1"/>
            <a:r>
              <a:rPr lang="en-US" dirty="0"/>
              <a:t>AI</a:t>
            </a:r>
          </a:p>
          <a:p>
            <a:pPr lvl="1"/>
            <a:r>
              <a:rPr lang="en-US" dirty="0"/>
              <a:t>Machine learning</a:t>
            </a:r>
          </a:p>
          <a:p>
            <a:pPr lvl="1"/>
            <a:r>
              <a:rPr lang="en-US" dirty="0"/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2823902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123D-F904-6651-557F-A153F5571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4D1DB-F8B1-ED64-14CA-1B905A9DE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84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= Diagnosis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64342-F8FA-5C63-12EC-47FC4FA3A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The majority of these articles are using AI/ML for diagnosis purposes, a classification problem</a:t>
            </a:r>
          </a:p>
          <a:p>
            <a:endParaRPr lang="en-US" sz="3200" dirty="0"/>
          </a:p>
          <a:p>
            <a:r>
              <a:rPr lang="en-US" sz="3200" dirty="0"/>
              <a:t>Commonly used classification methods included:</a:t>
            </a:r>
          </a:p>
          <a:p>
            <a:pPr lvl="1"/>
            <a:r>
              <a:rPr lang="en-US" sz="2800" dirty="0"/>
              <a:t>Neural networks</a:t>
            </a:r>
          </a:p>
          <a:p>
            <a:pPr lvl="1"/>
            <a:r>
              <a:rPr lang="en-US" sz="2800" dirty="0"/>
              <a:t>Deep learning</a:t>
            </a:r>
          </a:p>
          <a:p>
            <a:pPr lvl="1"/>
            <a:r>
              <a:rPr lang="en-US" sz="2800" dirty="0"/>
              <a:t>Random forests</a:t>
            </a:r>
          </a:p>
          <a:p>
            <a:pPr lvl="1"/>
            <a:r>
              <a:rPr lang="en-US" sz="2800" dirty="0"/>
              <a:t>Logistic regression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35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27589-6BCF-D0A4-4B17-610E6207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CE47785-26FF-F69D-92EE-7C8CF7D2F090}"/>
              </a:ext>
            </a:extLst>
          </p:cNvPr>
          <p:cNvSpPr txBox="1"/>
          <p:nvPr/>
        </p:nvSpPr>
        <p:spPr>
          <a:xfrm>
            <a:off x="0" y="1825625"/>
            <a:ext cx="10668000" cy="76944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sz="4400" dirty="0">
              <a:solidFill>
                <a:srgbClr val="0084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DDBC8-6338-3E6E-DB76-1EC43D488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0084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early outlier…</a:t>
            </a:r>
            <a:endParaRPr lang="en-US" dirty="0"/>
          </a:p>
        </p:txBody>
      </p:sp>
      <p:pic>
        <p:nvPicPr>
          <p:cNvPr id="6" name="Content Placeholder 5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9AD9450D-DB8D-59D9-BFFD-FD08159D09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63" y="1298008"/>
            <a:ext cx="7632699" cy="5451927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1E52BC4-E619-381D-0046-8E6799D21D47}"/>
              </a:ext>
            </a:extLst>
          </p:cNvPr>
          <p:cNvSpPr/>
          <p:nvPr/>
        </p:nvSpPr>
        <p:spPr>
          <a:xfrm>
            <a:off x="907024" y="4994787"/>
            <a:ext cx="233516" cy="373625"/>
          </a:xfrm>
          <a:prstGeom prst="ellipse">
            <a:avLst/>
          </a:prstGeom>
          <a:noFill/>
          <a:ln w="38100">
            <a:solidFill>
              <a:srgbClr val="F081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16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31E9-4514-A913-1155-21F0F45F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25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843D"/>
                </a:solidFill>
              </a:rPr>
              <a:t>1996: </a:t>
            </a:r>
            <a:r>
              <a:rPr lang="en-US" sz="3600" b="0" i="0" dirty="0">
                <a:solidFill>
                  <a:srgbClr val="00843D"/>
                </a:solidFill>
                <a:effectLst/>
              </a:rPr>
              <a:t>Neural network differentiation of optic neuritis and anterior </a:t>
            </a:r>
            <a:r>
              <a:rPr lang="en-US" sz="3600" b="0" i="0" dirty="0" err="1">
                <a:solidFill>
                  <a:srgbClr val="00843D"/>
                </a:solidFill>
                <a:effectLst/>
              </a:rPr>
              <a:t>ischaemic</a:t>
            </a:r>
            <a:r>
              <a:rPr lang="en-US" sz="3600" b="0" i="0" dirty="0">
                <a:solidFill>
                  <a:srgbClr val="00843D"/>
                </a:solidFill>
                <a:effectLst/>
              </a:rPr>
              <a:t> optic neuropathy</a:t>
            </a:r>
            <a:endParaRPr lang="en-US" sz="3600" dirty="0">
              <a:solidFill>
                <a:srgbClr val="00843D"/>
              </a:solidFill>
            </a:endParaRPr>
          </a:p>
        </p:txBody>
      </p:sp>
      <p:pic>
        <p:nvPicPr>
          <p:cNvPr id="7" name="Content Placeholder 6" descr="A diagram of a brain function&#10;&#10;AI-generated content may be incorrect.">
            <a:extLst>
              <a:ext uri="{FF2B5EF4-FFF2-40B4-BE49-F238E27FC236}">
                <a16:creationId xmlns:a16="http://schemas.microsoft.com/office/drawing/2014/main" id="{14C0FB07-569A-9D1F-308B-E8B9A15B07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02" y="1473201"/>
            <a:ext cx="4311467" cy="5298430"/>
          </a:xfrm>
        </p:spPr>
      </p:pic>
      <p:pic>
        <p:nvPicPr>
          <p:cNvPr id="11" name="Content Placeholder 1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2A0E65B-4CF6-56CC-A329-C64E48E4F8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008" y="1769268"/>
            <a:ext cx="7474189" cy="166766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846A32-5F1B-D2E7-55A1-6EE6F2DEC2B8}"/>
              </a:ext>
            </a:extLst>
          </p:cNvPr>
          <p:cNvSpPr txBox="1"/>
          <p:nvPr/>
        </p:nvSpPr>
        <p:spPr>
          <a:xfrm>
            <a:off x="5934505" y="5556449"/>
            <a:ext cx="6046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Levin LA, Rizzo JF 3rd, 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Lessell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S. Br J 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Ophthalmol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1996 Sep;80(9):835-9.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004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5BD6A-B2D7-2336-570D-D7E36E25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DB170A4-DE43-2845-8BFB-9BE24EC24AB1}"/>
              </a:ext>
            </a:extLst>
          </p:cNvPr>
          <p:cNvSpPr txBox="1"/>
          <p:nvPr/>
        </p:nvSpPr>
        <p:spPr>
          <a:xfrm>
            <a:off x="0" y="1825625"/>
            <a:ext cx="10668000" cy="76944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sz="4400" dirty="0">
              <a:solidFill>
                <a:srgbClr val="0084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0E6991-7EFF-0991-EAB2-CB8572A5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0084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a big jump in 2021…</a:t>
            </a:r>
            <a:endParaRPr lang="en-US" dirty="0"/>
          </a:p>
        </p:txBody>
      </p:sp>
      <p:pic>
        <p:nvPicPr>
          <p:cNvPr id="6" name="Content Placeholder 5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FB3B0BB1-4CFC-5FAC-F472-8744D62F48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63" y="1298008"/>
            <a:ext cx="7632699" cy="5451927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8FE0FBA-3BF4-9467-39CC-F84B205651F3}"/>
              </a:ext>
            </a:extLst>
          </p:cNvPr>
          <p:cNvSpPr/>
          <p:nvPr/>
        </p:nvSpPr>
        <p:spPr>
          <a:xfrm>
            <a:off x="6853083" y="1413292"/>
            <a:ext cx="422787" cy="2082621"/>
          </a:xfrm>
          <a:prstGeom prst="ellipse">
            <a:avLst/>
          </a:prstGeom>
          <a:noFill/>
          <a:ln w="38100">
            <a:solidFill>
              <a:srgbClr val="F081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15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8B7CE-24C6-D1C3-2DA7-943ED22C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69378-7434-94BE-8660-A0DCA1527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289300"/>
            <a:ext cx="10515600" cy="2552700"/>
          </a:xfrm>
        </p:spPr>
        <p:txBody>
          <a:bodyPr/>
          <a:lstStyle/>
          <a:p>
            <a:r>
              <a:rPr lang="en-US" dirty="0">
                <a:solidFill>
                  <a:srgbClr val="00843D"/>
                </a:solidFill>
              </a:rPr>
              <a:t>Standardization of Uveitis Nomenclature (SUN) Working Group</a:t>
            </a:r>
          </a:p>
          <a:p>
            <a:r>
              <a:rPr lang="en-US" dirty="0">
                <a:solidFill>
                  <a:srgbClr val="00843D"/>
                </a:solidFill>
              </a:rPr>
              <a:t>26 articles </a:t>
            </a:r>
          </a:p>
          <a:p>
            <a:r>
              <a:rPr lang="en-US" dirty="0">
                <a:solidFill>
                  <a:srgbClr val="00843D"/>
                </a:solidFill>
              </a:rPr>
              <a:t>Machine learning using logistic regression</a:t>
            </a:r>
          </a:p>
          <a:p>
            <a:r>
              <a:rPr lang="en-US" dirty="0">
                <a:solidFill>
                  <a:srgbClr val="00843D"/>
                </a:solidFill>
              </a:rPr>
              <a:t>85% training/15% validation for each condition</a:t>
            </a:r>
          </a:p>
          <a:p>
            <a:r>
              <a:rPr lang="en-US" dirty="0">
                <a:solidFill>
                  <a:srgbClr val="00843D"/>
                </a:solidFill>
              </a:rPr>
              <a:t>Goal was classification</a:t>
            </a:r>
          </a:p>
          <a:p>
            <a:endParaRPr lang="en-US" dirty="0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E1930D16-695A-3FB9-2AF2-388D76561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587" y="400050"/>
            <a:ext cx="964882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18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94B53-192E-7F13-98C1-E66A1259B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6381"/>
            <a:ext cx="5157787" cy="82391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843D"/>
                </a:solidFill>
              </a:rPr>
              <a:t>Areas for caution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6CEF6-44CE-74FB-6D18-D8848AAFF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297858"/>
            <a:ext cx="5157787" cy="4891805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Only as good as the data they are built on</a:t>
            </a:r>
          </a:p>
          <a:p>
            <a:pPr lvl="0">
              <a:lnSpc>
                <a:spcPct val="100000"/>
              </a:lnSpc>
            </a:pPr>
            <a:endParaRPr lang="en-US" dirty="0"/>
          </a:p>
          <a:p>
            <a:pPr lvl="0">
              <a:lnSpc>
                <a:spcPct val="100000"/>
              </a:lnSpc>
            </a:pPr>
            <a:r>
              <a:rPr lang="en-US" dirty="0"/>
              <a:t>Black box – e.g. what happens in the hidden layer?</a:t>
            </a:r>
          </a:p>
          <a:p>
            <a:pPr lvl="0">
              <a:lnSpc>
                <a:spcPct val="100000"/>
              </a:lnSpc>
            </a:pPr>
            <a:endParaRPr lang="en-US" dirty="0"/>
          </a:p>
          <a:p>
            <a:pPr lvl="0">
              <a:lnSpc>
                <a:spcPct val="100000"/>
              </a:lnSpc>
            </a:pPr>
            <a:r>
              <a:rPr lang="en-US" dirty="0"/>
              <a:t>Trade-off of complexity versus interpretation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497F0-3FEB-4D66-527B-FCA44BD24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256381"/>
            <a:ext cx="5183188" cy="82391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843D"/>
                </a:solidFill>
              </a:rPr>
              <a:t>Areas of promise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D6B256-9101-C88F-A677-A838048A2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297858"/>
            <a:ext cx="5183188" cy="4891805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Ability to handle large quantities of data</a:t>
            </a:r>
          </a:p>
          <a:p>
            <a:pPr lvl="0">
              <a:lnSpc>
                <a:spcPct val="100000"/>
              </a:lnSpc>
            </a:pPr>
            <a:endParaRPr lang="en-US" dirty="0"/>
          </a:p>
          <a:p>
            <a:pPr lvl="0">
              <a:lnSpc>
                <a:spcPct val="100000"/>
              </a:lnSpc>
            </a:pPr>
            <a:r>
              <a:rPr lang="en-US" dirty="0"/>
              <a:t>Automation of complicated procedures/processes</a:t>
            </a:r>
          </a:p>
          <a:p>
            <a:pPr lvl="0">
              <a:lnSpc>
                <a:spcPct val="100000"/>
              </a:lnSpc>
            </a:pPr>
            <a:endParaRPr lang="en-US" dirty="0"/>
          </a:p>
          <a:p>
            <a:pPr lvl="0">
              <a:lnSpc>
                <a:spcPct val="100000"/>
              </a:lnSpc>
            </a:pPr>
            <a:r>
              <a:rPr lang="en-US" dirty="0"/>
              <a:t>Better patient care through improved diagnostic and prognostic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109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quares with white squares&#10;&#10;Description automatically generated with medium confidence">
            <a:extLst>
              <a:ext uri="{FF2B5EF4-FFF2-40B4-BE49-F238E27FC236}">
                <a16:creationId xmlns:a16="http://schemas.microsoft.com/office/drawing/2014/main" id="{D0BFD206-F2AC-E4D5-8DE5-AFB725265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262" y="0"/>
            <a:ext cx="744022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C91F00-4A78-90CC-1F2F-C68153CE8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116" y="2188936"/>
            <a:ext cx="9144000" cy="1382399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0084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 Questions?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8EA7F-2473-B6A2-92DB-957E4CA32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16" y="4032293"/>
            <a:ext cx="9144000" cy="2622220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4B4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zabore2@ccf.org</a:t>
            </a:r>
          </a:p>
        </p:txBody>
      </p:sp>
      <p:pic>
        <p:nvPicPr>
          <p:cNvPr id="6" name="Graphic 5" descr="Envelope with solid fill">
            <a:extLst>
              <a:ext uri="{FF2B5EF4-FFF2-40B4-BE49-F238E27FC236}">
                <a16:creationId xmlns:a16="http://schemas.microsoft.com/office/drawing/2014/main" id="{154FFA12-38A6-DEDA-0982-243FAB2B5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116" y="4032293"/>
            <a:ext cx="486624" cy="486624"/>
          </a:xfrm>
          <a:prstGeom prst="rect">
            <a:avLst/>
          </a:prstGeom>
        </p:spPr>
      </p:pic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AFB4238-78AF-E196-9728-02472D5FCD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405" y="6354896"/>
            <a:ext cx="2347796" cy="36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95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F Palette">
      <a:dk1>
        <a:srgbClr val="4B4B45"/>
      </a:dk1>
      <a:lt1>
        <a:sysClr val="window" lastClr="FFFFFF"/>
      </a:lt1>
      <a:dk2>
        <a:srgbClr val="0078BF"/>
      </a:dk2>
      <a:lt2>
        <a:srgbClr val="FFFFFF"/>
      </a:lt2>
      <a:accent1>
        <a:srgbClr val="0078BF"/>
      </a:accent1>
      <a:accent2>
        <a:srgbClr val="00843D"/>
      </a:accent2>
      <a:accent3>
        <a:srgbClr val="F08122"/>
      </a:accent3>
      <a:accent4>
        <a:srgbClr val="5C2161"/>
      </a:accent4>
      <a:accent5>
        <a:srgbClr val="A61F56"/>
      </a:accent5>
      <a:accent6>
        <a:srgbClr val="F7C612"/>
      </a:accent6>
      <a:hlink>
        <a:srgbClr val="C6C8C8"/>
      </a:hlink>
      <a:folHlink>
        <a:srgbClr val="7B7D83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2169</TotalTime>
  <Words>345</Words>
  <Application>Microsoft Office PowerPoint</Application>
  <PresentationFormat>Widescreen</PresentationFormat>
  <Paragraphs>84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Machine Learning and AI Methods</vt:lpstr>
      <vt:lpstr>PowerPoint Presentation</vt:lpstr>
      <vt:lpstr>Generative vs predictive AI</vt:lpstr>
      <vt:lpstr>PowerPoint Presentation</vt:lpstr>
      <vt:lpstr>Examples of predictive machine learning algorithms</vt:lpstr>
      <vt:lpstr>References to AI and ML over time</vt:lpstr>
      <vt:lpstr>Classification = Diagnosis</vt:lpstr>
      <vt:lpstr>An early outlier…</vt:lpstr>
      <vt:lpstr>1996: Neural network differentiation of optic neuritis and anterior ischaemic optic neuropathy</vt:lpstr>
      <vt:lpstr>And a big jump in 2021…</vt:lpstr>
      <vt:lpstr>PowerPoint Presentation</vt:lpstr>
      <vt:lpstr>PowerPoint Presentation</vt:lpstr>
      <vt:lpstr>Thank you! Questions?</vt:lpstr>
    </vt:vector>
  </TitlesOfParts>
  <Company>Cleveland Clinic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Estimands, estimators, and the impact of interval censoring</dc:title>
  <dc:creator>Zabor, Emily</dc:creator>
  <cp:lastModifiedBy>Zabor, Emily</cp:lastModifiedBy>
  <cp:revision>85</cp:revision>
  <dcterms:created xsi:type="dcterms:W3CDTF">2023-09-08T14:05:34Z</dcterms:created>
  <dcterms:modified xsi:type="dcterms:W3CDTF">2025-06-05T14:11:15Z</dcterms:modified>
</cp:coreProperties>
</file>